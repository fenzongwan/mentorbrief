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开场：每个学生都怕漏掉导师的关键一句。我们做的不是监控，而是把已经收到的沟通整理成下一步行动。3 分钟，讲清问题、产品、边界和验证。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用一个具体场景开场：导师一句话被群聊刷走，截止时间错过。再说群聊和动态，让评委快速共鸣。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为什么现在：信息更多、模型更便宜、但隐私更敏感。所以机会不是又一个聊天机器人，而是可信任的行动层。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左边是现状：信息多、行动少。右边是产品结果：一页简报、五个待办、一份回复提纲。价值是节省时间，不是增加信息。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这是产品的一屏：左边指标，中间简报，右边回复提纲。强调三个动作：看简报、勾待办、生成回复提纲。全程不自动发送。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技术不复杂，但分层清楚：采集、分析、入口。核心边界是应用侧零注入、零登录、零自动发送。采集端的风险隔离在 WeFlow。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评委最可能质疑伦理。主动讲边界：做什么、不做什么、风险在哪。不要回避，也不要承诺绝对免封。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用真实脱敏数据做证据：66 条沟通，生成 4 条信号、6 条结论、5 个行动、5 个待确认。强调可演示、可复现。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差异化：普通总结只说发生了什么；备忘录只管待办；我们做的是导师视角 + 行动 + 回复 + 边界。壁垒是数据模型和闭环，不是模型本身。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最后讲路线和团队：现在有微信本地版，3 个月做定时和真实模型，6 个月做团队版和官方 adapter。结尾回到使命：不漏掉导师的关键一句。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A9CEC1"/>
                </a:solidFill>
                <a:latin typeface="Microsoft YaHei"/>
              </a:rPr>
              <a:t>HACKATHON 2026 · MENTOR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</a:rPr>
              <a:t>导师简报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21284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A9CEC1"/>
                </a:solidFill>
                <a:latin typeface="Microsoft YaHei"/>
              </a:rPr>
              <a:t>Mentor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97180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把导师沟通，变成下一步行动。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840480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D7E6DF"/>
                </a:solidFill>
                <a:latin typeface="Microsoft YaHei"/>
              </a:rPr>
              <a:t>不漏掉关键一句，也不越过隐私边界。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461772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CEC1"/>
                </a:solidFill>
                <a:latin typeface="Microsoft YaHei"/>
              </a:rPr>
              <a:t>微信优先 · 本地运行 · 可接入 DSH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5349240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1E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D7E6DF"/>
                </a:solidFill>
                <a:latin typeface="Microsoft YaHei"/>
              </a:rPr>
              <a:t>沟通简报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95728" y="5349240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1E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D7E6DF"/>
                </a:solidFill>
                <a:latin typeface="Microsoft YaHei"/>
              </a:rPr>
              <a:t>回复提纲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8768" y="5349240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1E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D7E6DF"/>
                </a:solidFill>
                <a:latin typeface="Microsoft YaHei"/>
              </a:rPr>
              <a:t>行动清单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5349240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1E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D7E6DF"/>
                </a:solidFill>
                <a:latin typeface="Microsoft YaHei"/>
              </a:rPr>
              <a:t>本地优先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6080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FB8A9"/>
                </a:solidFill>
                <a:latin typeface="Microsoft YaHei"/>
              </a:rPr>
              <a:t>3 分钟演示 · v1.2 · 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F8F75"/>
                </a:solidFill>
                <a:latin typeface="Microsoft YaHei"/>
              </a:rPr>
              <a:t>01 / 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23F36"/>
                </a:solidFill>
                <a:latin typeface="Microsoft YaHei"/>
              </a:rPr>
              <a:t>我们不是没有导师，是信息太碎。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822960" cy="45720"/>
          </a:xfrm>
          <a:prstGeom prst="rect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38328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1965960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E7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C6D5B"/>
                </a:solidFill>
                <a:latin typeface="Microsoft YaHei"/>
              </a:rPr>
              <a:t>导师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23160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123F36"/>
                </a:solidFill>
                <a:latin typeface="Microsoft YaHei"/>
              </a:rPr>
              <a:t>“下周把方案发我”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291840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667065"/>
                </a:solidFill>
                <a:latin typeface="Microsoft YaHei"/>
              </a:rPr>
              <a:t>被 200 条群消息刷走，
看到时已经过了截止时间。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737360"/>
            <a:ext cx="338328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08576" y="1965960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E7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C6D5B"/>
                </a:solidFill>
                <a:latin typeface="Microsoft YaHei"/>
              </a:rPr>
              <a:t>群聊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423160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123F36"/>
                </a:solidFill>
                <a:latin typeface="Microsoft YaHei"/>
              </a:rPr>
              <a:t>“@你，报名表今天截止”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3291840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667065"/>
                </a:solidFill>
                <a:latin typeface="Microsoft YaHei"/>
              </a:rPr>
              <a:t>爬楼 20 分钟，
最后只记住两个待办。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7" y="1737360"/>
            <a:ext cx="338328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21039" y="1965960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E7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C6D5B"/>
                </a:solidFill>
                <a:latin typeface="Microsoft YaHei"/>
              </a:rPr>
              <a:t>动态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9" y="2423160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123F36"/>
                </a:solidFill>
                <a:latin typeface="Microsoft YaHei"/>
              </a:rPr>
              <a:t>“设备申请开放了”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9" y="3291840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667065"/>
                </a:solidFill>
                <a:latin typeface="Microsoft YaHei"/>
              </a:rPr>
              <a:t>三天后才刷到，
机会已经错过。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166360"/>
            <a:ext cx="10908792" cy="713232"/>
          </a:xfrm>
          <a:prstGeom prst="roundRect">
            <a:avLst>
              <a:gd name="adj" fmla="val 6000"/>
            </a:avLst>
          </a:prstGeom>
          <a:solidFill>
            <a:srgbClr val="FBF3EF"/>
          </a:solidFill>
          <a:ln w="10160">
            <a:solidFill>
              <a:srgbClr val="E7C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367528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07A3F"/>
                </a:solidFill>
                <a:latin typeface="Microsoft YaHei"/>
              </a:rPr>
              <a:t>漏掉一句，可能错过一个机会。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12648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67065"/>
                </a:solidFill>
                <a:latin typeface="Microsoft YaHei"/>
              </a:rPr>
              <a:t>问题不是信息不够，而是信息没有变成行动。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67065"/>
                </a:solidFill>
                <a:latin typeface="Microsoft YaHei"/>
              </a:rPr>
              <a:t>Mentor Brief · 导师简报 · 微信优先 · 本地运行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67065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F8F75"/>
                </a:solidFill>
                <a:latin typeface="Microsoft YaHei"/>
              </a:rPr>
              <a:t>02 / 时机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23F36"/>
                </a:solidFill>
                <a:latin typeface="Microsoft YaHei"/>
              </a:rPr>
              <a:t>为什么是现在？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822960" cy="45720"/>
          </a:xfrm>
          <a:prstGeom prst="rect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38328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659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07A3F"/>
                </a:solidFill>
                <a:latin typeface="Microsoft YaHei"/>
              </a:rPr>
              <a:t>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146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23F36"/>
                </a:solidFill>
                <a:latin typeface="Microsoft YaHei"/>
              </a:rPr>
              <a:t>信息过载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06324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667065"/>
                </a:solidFill>
                <a:latin typeface="Microsoft YaHei"/>
              </a:rPr>
              <a:t>微信、群聊、朋友圈、邮件，入口越来越多。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737360"/>
            <a:ext cx="338328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9659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07A3F"/>
                </a:solidFill>
                <a:latin typeface="Microsoft YaHei"/>
              </a:rPr>
              <a:t>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5146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23F36"/>
                </a:solidFill>
                <a:latin typeface="Microsoft YaHei"/>
              </a:rPr>
              <a:t>LLM 成熟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306324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667065"/>
                </a:solidFill>
                <a:latin typeface="Microsoft YaHei"/>
              </a:rPr>
              <a:t>总结、抽取、生成草稿，成本大幅下降。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7" y="1737360"/>
            <a:ext cx="338328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39" y="19659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07A3F"/>
                </a:solidFill>
                <a:latin typeface="Microsoft YaHei"/>
              </a:rPr>
              <a:t>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9" y="25146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23F36"/>
                </a:solidFill>
                <a:latin typeface="Microsoft YaHei"/>
              </a:rPr>
              <a:t>信任稀缺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9" y="306324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667065"/>
                </a:solidFill>
                <a:latin typeface="Microsoft YaHei"/>
              </a:rPr>
              <a:t>越能拿到数据，越需要边界、审计和可删除。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74920"/>
            <a:ext cx="10908792" cy="868680"/>
          </a:xfrm>
          <a:prstGeom prst="roundRect">
            <a:avLst>
              <a:gd name="adj" fmla="val 6000"/>
            </a:avLst>
          </a:prstGeom>
          <a:solidFill>
            <a:srgbClr val="123F36"/>
          </a:solidFill>
          <a:ln w="10160">
            <a:solidFill>
              <a:srgbClr val="123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285232"/>
            <a:ext cx="10378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机会不是再做一个聊天机器人，而是做“可信任的行动层”。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67065"/>
                </a:solidFill>
                <a:latin typeface="Microsoft YaHei"/>
              </a:rPr>
              <a:t>Mentor Brief · 导师简报 · 微信优先 · 本地运行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67065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F8F75"/>
                </a:solidFill>
                <a:latin typeface="Microsoft YaHei"/>
              </a:rPr>
              <a:t>03 / 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23F36"/>
                </a:solidFill>
                <a:latin typeface="Microsoft YaHei"/>
              </a:rPr>
              <a:t>从信息流，到行动清单。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822960" cy="45720"/>
          </a:xfrm>
          <a:prstGeom prst="rect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4663440" cy="3611880"/>
          </a:xfrm>
          <a:prstGeom prst="roundRect">
            <a:avLst>
              <a:gd name="adj" fmla="val 6000"/>
            </a:avLst>
          </a:prstGeom>
          <a:solidFill>
            <a:srgbClr val="FBF3EF"/>
          </a:solidFill>
          <a:ln w="10160">
            <a:solidFill>
              <a:srgbClr val="E7C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38528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07A3F"/>
                </a:solidFill>
                <a:latin typeface="Microsoft YaHei"/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04288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23F36"/>
                </a:solidFill>
                <a:latin typeface="Microsoft YaHei"/>
              </a:rPr>
              <a:t>信息在，行动不在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077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F2420"/>
                </a:solidFill>
                <a:latin typeface="Microsoft YaHei"/>
              </a:rPr>
              <a:t>·  200 条消息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3649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F2420"/>
                </a:solidFill>
                <a:latin typeface="Microsoft YaHei"/>
              </a:rPr>
              <a:t>·  20 分钟爬楼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822191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F2420"/>
                </a:solidFill>
                <a:latin typeface="Microsoft YaHei"/>
              </a:rPr>
              <a:t>·  3 个待办靠记忆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2793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F2420"/>
                </a:solidFill>
                <a:latin typeface="Microsoft YaHei"/>
              </a:rPr>
              <a:t>·  回复靠临场想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413248" y="3246120"/>
            <a:ext cx="502920" cy="457200"/>
          </a:xfrm>
          <a:prstGeom prst="rightArrow">
            <a:avLst/>
          </a:prstGeom>
          <a:solidFill>
            <a:srgbClr val="BFC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0" y="1737360"/>
            <a:ext cx="5486400" cy="3611880"/>
          </a:xfrm>
          <a:prstGeom prst="roundRect">
            <a:avLst>
              <a:gd name="adj" fmla="val 6000"/>
            </a:avLst>
          </a:prstGeom>
          <a:solidFill>
            <a:srgbClr val="123F36"/>
          </a:solidFill>
          <a:ln w="10160">
            <a:solidFill>
              <a:srgbClr val="123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93852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2B28B"/>
                </a:solidFill>
                <a:latin typeface="Microsoft YaHei"/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304288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一页简报，三个动作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290779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D7E6DF"/>
                </a:solidFill>
                <a:latin typeface="Microsoft YaHei"/>
              </a:rPr>
              <a:t>·  1 页沟通简报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336499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D7E6DF"/>
                </a:solidFill>
                <a:latin typeface="Microsoft YaHei"/>
              </a:rPr>
              <a:t>·  5 个可跟进待办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3822191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D7E6DF"/>
                </a:solidFill>
                <a:latin typeface="Microsoft YaHei"/>
              </a:rPr>
              <a:t>·  1 份下次回复提纲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427939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D7E6DF"/>
                </a:solidFill>
                <a:latin typeface="Microsoft YaHei"/>
              </a:rPr>
              <a:t>·  每天 3 分钟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71500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23F36"/>
                </a:solidFill>
                <a:latin typeface="Microsoft YaHei"/>
              </a:rPr>
              <a:t>不是总结更多，而是决定下一步做什么。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67065"/>
                </a:solidFill>
                <a:latin typeface="Microsoft YaHei"/>
              </a:rPr>
              <a:t>Mentor Brief · 导师简报 · 微信优先 · 本地运行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67065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F8F75"/>
                </a:solidFill>
                <a:latin typeface="Microsoft YaHei"/>
              </a:rPr>
              <a:t>04 / 产品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23F36"/>
                </a:solidFill>
                <a:latin typeface="Microsoft YaHei"/>
              </a:rPr>
              <a:t>一页简报，三个动作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822960" cy="45720"/>
          </a:xfrm>
          <a:prstGeom prst="rect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4173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81051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6D5B"/>
                </a:solidFill>
                <a:latin typeface="Microsoft YaHei"/>
              </a:rPr>
              <a:t>66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24028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67065"/>
                </a:solidFill>
                <a:latin typeface="Microsoft YaHei"/>
              </a:rPr>
              <a:t>导师消息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12848" y="1737360"/>
            <a:ext cx="14173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40864" y="181051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6D5B"/>
                </a:solidFill>
                <a:latin typeface="Microsoft YaHe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0864" y="224028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67065"/>
                </a:solidFill>
                <a:latin typeface="Microsoft YaHei"/>
              </a:rPr>
              <a:t>待办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88920"/>
            <a:ext cx="14173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86207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6D5B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291839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67065"/>
                </a:solidFill>
                <a:latin typeface="Microsoft YaHei"/>
              </a:rPr>
              <a:t>新动态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12848" y="2788920"/>
            <a:ext cx="14173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40864" y="286207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6D5B"/>
                </a:solidFill>
                <a:latin typeface="Microsoft YaHe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40864" y="3291839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67065"/>
                </a:solidFill>
                <a:latin typeface="Microsoft YaHei"/>
              </a:rPr>
              <a:t>行动项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1737360"/>
            <a:ext cx="3977639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19202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8F75"/>
                </a:solidFill>
                <a:latin typeface="Microsoft YaHei"/>
              </a:rPr>
              <a:t>沟通简报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2240280"/>
            <a:ext cx="3520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23F36"/>
                </a:solidFill>
                <a:latin typeface="Microsoft YaHei"/>
              </a:rPr>
              <a:t>合作进入实质推进，
样机预计数周后到位。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01752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F2420"/>
                </a:solidFill>
                <a:latin typeface="Microsoft YaHei"/>
              </a:rPr>
              <a:t>·  关键信号：公司层面已汇报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47472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F2420"/>
                </a:solidFill>
                <a:latin typeface="Microsoft YaHei"/>
              </a:rPr>
              <a:t>·  技术结论：TPU/金属粉末边界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393192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F2420"/>
                </a:solidFill>
                <a:latin typeface="Microsoft YaHei"/>
              </a:rPr>
              <a:t>·  行动：准备外测计划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438912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F2420"/>
                </a:solidFill>
                <a:latin typeface="Microsoft YaHei"/>
              </a:rPr>
              <a:t>·  待确认：样机时间/数量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173736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FBF3EF"/>
          </a:solidFill>
          <a:ln w="10160">
            <a:solidFill>
              <a:srgbClr val="E7C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92024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07A3F"/>
                </a:solidFill>
                <a:latin typeface="Microsoft YaHei"/>
              </a:rPr>
              <a:t>下次回复提纲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33172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420"/>
                </a:solidFill>
                <a:latin typeface="Microsoft YaHei"/>
              </a:rPr>
              <a:t>·  目标：确认排期与配合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807208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420"/>
                </a:solidFill>
                <a:latin typeface="Microsoft YaHei"/>
              </a:rPr>
              <a:t>·  必须回应：感谢 + 已汇报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282696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420"/>
                </a:solidFill>
                <a:latin typeface="Microsoft YaHei"/>
              </a:rPr>
              <a:t>·  结构：开场/回应/推进/追问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758183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420"/>
                </a:solidFill>
                <a:latin typeface="Microsoft YaHei"/>
              </a:rPr>
              <a:t>·  避免：一次问太多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23367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F2420"/>
                </a:solidFill>
                <a:latin typeface="Microsoft YaHei"/>
              </a:rPr>
              <a:t>·  草稿：可直接复制改写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486400"/>
            <a:ext cx="10908792" cy="548640"/>
          </a:xfrm>
          <a:prstGeom prst="roundRect">
            <a:avLst>
              <a:gd name="adj" fmla="val 6000"/>
            </a:avLst>
          </a:prstGeom>
          <a:solidFill>
            <a:srgbClr val="E7F1ED"/>
          </a:solidFill>
          <a:ln w="10160">
            <a:solidFill>
              <a:srgbClr val="E7F1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32704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23F36"/>
                </a:solidFill>
                <a:latin typeface="Microsoft YaHei"/>
              </a:rPr>
              <a:t>只生成草稿，不自动发送；所有结论可回到原文。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10528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67065"/>
                </a:solidFill>
                <a:latin typeface="Microsoft YaHei"/>
              </a:rPr>
              <a:t>Mentor Brief · 导师简报 · 微信优先 · 本地运行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67065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F8F75"/>
                </a:solidFill>
                <a:latin typeface="Microsoft YaHei"/>
              </a:rPr>
              <a:t>05 / 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23F36"/>
                </a:solidFill>
                <a:latin typeface="Microsoft YaHei"/>
              </a:rPr>
              <a:t>三层，零注入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822960" cy="45720"/>
          </a:xfrm>
          <a:prstGeom prst="rect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38328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6D5B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23F36"/>
                </a:solidFill>
                <a:latin typeface="Microsoft YaHei"/>
              </a:rPr>
              <a:t>采集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67065"/>
                </a:solidFill>
                <a:latin typeface="Microsoft YaHei"/>
              </a:rPr>
              <a:t>WeFlow / 文本 / 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420"/>
                </a:solidFill>
                <a:latin typeface="Microsoft YaHei"/>
              </a:rPr>
              <a:t>·  只读本地缓存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420"/>
                </a:solidFill>
                <a:latin typeface="Microsoft YaHei"/>
              </a:rPr>
              <a:t>·  不读解密密钥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7764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420"/>
                </a:solidFill>
                <a:latin typeface="Microsoft YaHei"/>
              </a:rPr>
              <a:t>·  用户主动导入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1737360"/>
            <a:ext cx="338328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1920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8F75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2402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23F36"/>
                </a:solidFill>
                <a:latin typeface="Microsoft YaHei"/>
              </a:rPr>
              <a:t>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6517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67065"/>
                </a:solidFill>
                <a:latin typeface="Microsoft YaHei"/>
              </a:rPr>
              <a:t>Python + SQLite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15468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420"/>
                </a:solidFill>
                <a:latin typeface="Microsoft YaHei"/>
              </a:rPr>
              <a:t>·  解析 / 去重 / 脱敏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356616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420"/>
                </a:solidFill>
                <a:latin typeface="Microsoft YaHei"/>
              </a:rPr>
              <a:t>·  简报 / 待办 / 提纲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397764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420"/>
                </a:solidFill>
                <a:latin typeface="Microsoft YaHei"/>
              </a:rPr>
              <a:t>·  原文引用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7" y="1737360"/>
            <a:ext cx="338328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7" y="1920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07A3F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7" y="22402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23F36"/>
                </a:solidFill>
                <a:latin typeface="Microsoft YaHei"/>
              </a:rPr>
              <a:t>入口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7" y="26517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67065"/>
                </a:solidFill>
                <a:latin typeface="Microsoft YaHei"/>
              </a:rPr>
              <a:t>浏览器 + DSH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315468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420"/>
                </a:solidFill>
                <a:latin typeface="Microsoft YaHei"/>
              </a:rPr>
              <a:t>·  沟通简报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7" y="356616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420"/>
                </a:solidFill>
                <a:latin typeface="Microsoft YaHei"/>
              </a:rPr>
              <a:t>·  行动清单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7" y="397764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F2420"/>
                </a:solidFill>
                <a:latin typeface="Microsoft YaHei"/>
              </a:rPr>
              <a:t>·  08:00 / 21:00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050791" y="3154680"/>
            <a:ext cx="292608" cy="347472"/>
          </a:xfrm>
          <a:prstGeom prst="rightArrow">
            <a:avLst/>
          </a:prstGeom>
          <a:solidFill>
            <a:srgbClr val="BFC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7763256" y="3154680"/>
            <a:ext cx="292608" cy="347472"/>
          </a:xfrm>
          <a:prstGeom prst="rightArrow">
            <a:avLst/>
          </a:prstGeom>
          <a:solidFill>
            <a:srgbClr val="BFC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5257800"/>
            <a:ext cx="10908792" cy="685800"/>
          </a:xfrm>
          <a:prstGeom prst="roundRect">
            <a:avLst>
              <a:gd name="adj" fmla="val 6000"/>
            </a:avLst>
          </a:prstGeom>
          <a:solidFill>
            <a:srgbClr val="123F36"/>
          </a:solidFill>
          <a:ln w="10160">
            <a:solidFill>
              <a:srgbClr val="123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449824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应用侧：零注入  ·  零登录  ·  零自动发送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67065"/>
                </a:solidFill>
                <a:latin typeface="Microsoft YaHei"/>
              </a:rPr>
              <a:t>Mentor Brief · 导师简报 · 微信优先 · 本地运行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67065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F8F75"/>
                </a:solidFill>
                <a:latin typeface="Microsoft YaHei"/>
              </a:rPr>
              <a:t>06 / 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23F36"/>
                </a:solidFill>
                <a:latin typeface="Microsoft YaHei"/>
              </a:rPr>
              <a:t>先讲边界，再讲能力。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822960" cy="45720"/>
          </a:xfrm>
          <a:prstGeom prst="rect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34924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74519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C6D5B"/>
                </a:solidFill>
                <a:latin typeface="Microsoft YaHei"/>
              </a:rPr>
              <a:t>我们做什么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860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420"/>
                </a:solidFill>
                <a:latin typeface="Microsoft YaHei"/>
              </a:rPr>
              <a:t>·  只读本地缓存 / 主动导入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7432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420"/>
                </a:solidFill>
                <a:latin typeface="Microsoft YaHei"/>
              </a:rPr>
              <a:t>·  默认脱敏，姓名电话地址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2004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420"/>
                </a:solidFill>
                <a:latin typeface="Microsoft YaHei"/>
              </a:rPr>
              <a:t>·  保留期 + 审计 + 可删除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6576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420"/>
                </a:solidFill>
                <a:latin typeface="Microsoft YaHei"/>
              </a:rPr>
              <a:t>·  每条结论可回原文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1148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420"/>
                </a:solidFill>
                <a:latin typeface="Microsoft YaHei"/>
              </a:rPr>
              <a:t>·  回复只生成草稿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91640"/>
            <a:ext cx="5349240" cy="3246120"/>
          </a:xfrm>
          <a:prstGeom prst="roundRect">
            <a:avLst>
              <a:gd name="adj" fmla="val 6000"/>
            </a:avLst>
          </a:prstGeom>
          <a:solidFill>
            <a:srgbClr val="FBF3EF"/>
          </a:solidFill>
          <a:ln w="10160">
            <a:solidFill>
              <a:srgbClr val="E7C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874519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07A3F"/>
                </a:solidFill>
                <a:latin typeface="Microsoft YaHei"/>
              </a:rPr>
              <a:t>我们不做什么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2860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420"/>
                </a:solidFill>
                <a:latin typeface="Microsoft YaHei"/>
              </a:rPr>
              <a:t>×  不 Hook / 不注入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7432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420"/>
                </a:solidFill>
                <a:latin typeface="Microsoft YaHei"/>
              </a:rPr>
              <a:t>×  不自动浏览动态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32004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420"/>
                </a:solidFill>
                <a:latin typeface="Microsoft YaHei"/>
              </a:rPr>
              <a:t>×  不自动发消息 / 不加好友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36576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420"/>
                </a:solidFill>
                <a:latin typeface="Microsoft YaHei"/>
              </a:rPr>
              <a:t>×  不把原始聊天上传云端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41148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420"/>
                </a:solidFill>
                <a:latin typeface="Microsoft YaHei"/>
              </a:rPr>
              <a:t>×  不承诺“全链路免封”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6636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67065"/>
                </a:solidFill>
                <a:latin typeface="Microsoft YaHei"/>
              </a:rPr>
              <a:t>WeFlow 采集风险隔离在采集层；官方替代是企业微信会话存档 / QQ 官方机器人 / 手动导出。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0644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23F36"/>
                </a:solidFill>
                <a:latin typeface="Microsoft YaHei"/>
              </a:rPr>
              <a:t>隐晦不是隐瞒：数据从哪来、用到哪、怎么删，要能一句话说清。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67065"/>
                </a:solidFill>
                <a:latin typeface="Microsoft YaHei"/>
              </a:rPr>
              <a:t>Mentor Brief · 导师简报 · 微信优先 · 本地运行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67065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F8F75"/>
                </a:solidFill>
                <a:latin typeface="Microsoft YaHei"/>
              </a:rPr>
              <a:t>07 / 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23F36"/>
                </a:solidFill>
                <a:latin typeface="Microsoft YaHei"/>
              </a:rPr>
              <a:t>66 条真实沟通，变成一页简报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822960" cy="45720"/>
          </a:xfrm>
          <a:prstGeom prst="rect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2971800" cy="3840480"/>
          </a:xfrm>
          <a:prstGeom prst="roundRect">
            <a:avLst>
              <a:gd name="adj" fmla="val 6000"/>
            </a:avLst>
          </a:prstGeom>
          <a:solidFill>
            <a:srgbClr val="123F36"/>
          </a:solidFill>
          <a:ln w="10160">
            <a:solidFill>
              <a:srgbClr val="123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87451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9CEC1"/>
                </a:solidFill>
                <a:latin typeface="Microsoft YaHei"/>
              </a:rPr>
              <a:t>真实场景（已脱敏）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24028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Microsoft YaHei"/>
              </a:rPr>
              <a:t>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8163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D7E6DF"/>
                </a:solidFill>
                <a:latin typeface="Microsoft YaHei"/>
              </a:rPr>
              <a:t>条导师沟通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310128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1 个月
2 位沟通者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5720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A9CEC1"/>
                </a:solidFill>
                <a:latin typeface="Microsoft YaHei"/>
              </a:rPr>
              <a:t>从技术问题
到合作推进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1691640"/>
            <a:ext cx="35661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87368" y="185623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C6D5B"/>
                </a:solidFill>
                <a:latin typeface="Microsoft YaHe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0391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23F36"/>
                </a:solidFill>
                <a:latin typeface="Microsoft YaHei"/>
              </a:rPr>
              <a:t>关键信号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691640"/>
            <a:ext cx="35661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8" y="185623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C6D5B"/>
                </a:solidFill>
                <a:latin typeface="Microsoft YaHe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0391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23F36"/>
                </a:solidFill>
                <a:latin typeface="Microsoft YaHei"/>
              </a:rPr>
              <a:t>技术结论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86200" y="3017520"/>
            <a:ext cx="35661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87368" y="318211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C6D5B"/>
                </a:solidFill>
                <a:latin typeface="Microsoft YaHe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364991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23F36"/>
                </a:solidFill>
                <a:latin typeface="Microsoft YaHei"/>
              </a:rPr>
              <a:t>行动项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3017520"/>
            <a:ext cx="35661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82128" y="318211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C6D5B"/>
                </a:solidFill>
                <a:latin typeface="Microsoft YaHe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364991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23F36"/>
                </a:solidFill>
                <a:latin typeface="Microsoft YaHei"/>
              </a:rPr>
              <a:t>待确认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86200" y="4434840"/>
            <a:ext cx="74066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7C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0" y="4590288"/>
            <a:ext cx="6949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123F36"/>
                </a:solidFill>
                <a:latin typeface="Microsoft YaHei"/>
              </a:rPr>
              <a:t>“合作进入实质推进：
导师已汇报，样机预计数周后到位。”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7607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67065"/>
                </a:solidFill>
                <a:latin typeface="Microsoft YaHei"/>
              </a:rPr>
              <a:t>已验证：缓存同步 / 群聊总结 / 待办勾选 / 回复提纲 / 自动清理。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67065"/>
                </a:solidFill>
                <a:latin typeface="Microsoft YaHei"/>
              </a:rPr>
              <a:t>Mentor Brief · 导师简报 · 微信优先 · 本地运行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67065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F8F75"/>
                </a:solidFill>
                <a:latin typeface="Microsoft YaHei"/>
              </a:rPr>
              <a:t>08 / 差异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23F36"/>
                </a:solidFill>
                <a:latin typeface="Microsoft YaHei"/>
              </a:rPr>
              <a:t>和普通总结工具，差在哪？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822960" cy="45720"/>
          </a:xfrm>
          <a:prstGeom prst="rect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38328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667065"/>
                </a:solidFill>
                <a:latin typeface="Microsoft YaHei"/>
              </a:rPr>
              <a:t>聊天总结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23F36"/>
                </a:solidFill>
                <a:latin typeface="Microsoft YaHei"/>
              </a:rPr>
              <a:t>说了什么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F2420"/>
                </a:solidFill>
                <a:latin typeface="Microsoft YaHei"/>
              </a:rPr>
              <a:t>·  一次性摘要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204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F2420"/>
                </a:solidFill>
                <a:latin typeface="Microsoft YaHei"/>
              </a:rPr>
              <a:t>·  没有行动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977639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F2420"/>
                </a:solidFill>
                <a:latin typeface="Microsoft YaHei"/>
              </a:rPr>
              <a:t>·  没有导师视角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737360"/>
            <a:ext cx="338328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193852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667065"/>
                </a:solidFill>
                <a:latin typeface="Microsoft YaHei"/>
              </a:rPr>
              <a:t>备忘录 / 待办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23317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23F36"/>
                </a:solidFill>
                <a:latin typeface="Microsoft YaHei"/>
              </a:rPr>
              <a:t>要做什么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30632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F2420"/>
                </a:solidFill>
                <a:latin typeface="Microsoft YaHei"/>
              </a:rPr>
              <a:t>·  手动整理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35204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F2420"/>
                </a:solidFill>
                <a:latin typeface="Microsoft YaHei"/>
              </a:rPr>
              <a:t>·  没有上下文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977639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F2420"/>
                </a:solidFill>
                <a:latin typeface="Microsoft YaHei"/>
              </a:rPr>
              <a:t>·  不会生成回复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7" y="1737360"/>
            <a:ext cx="3383280" cy="3246120"/>
          </a:xfrm>
          <a:prstGeom prst="roundRect">
            <a:avLst>
              <a:gd name="adj" fmla="val 6000"/>
            </a:avLst>
          </a:prstGeom>
          <a:solidFill>
            <a:srgbClr val="E7F1ED"/>
          </a:solidFill>
          <a:ln w="10160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7" y="193852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C6D5B"/>
                </a:solidFill>
                <a:latin typeface="Microsoft YaHei"/>
              </a:rPr>
              <a:t>Mentor 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7" y="23317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23F36"/>
                </a:solidFill>
                <a:latin typeface="Microsoft YaHei"/>
              </a:rPr>
              <a:t>导师说了什么 + 下一步 + 怎么回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7" y="30632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F2420"/>
                </a:solidFill>
                <a:latin typeface="Microsoft YaHei"/>
              </a:rPr>
              <a:t>·  简报 + 待办 + 提纲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7" y="35204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F2420"/>
                </a:solidFill>
                <a:latin typeface="Microsoft YaHei"/>
              </a:rPr>
              <a:t>·  原文引用 + 脱敏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7" y="3977639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F2420"/>
                </a:solidFill>
                <a:latin typeface="Microsoft YaHei"/>
              </a:rPr>
              <a:t>·  可插拔采集 + 本地优先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212080"/>
            <a:ext cx="10908792" cy="640080"/>
          </a:xfrm>
          <a:prstGeom prst="roundRect">
            <a:avLst>
              <a:gd name="adj" fmla="val 6000"/>
            </a:avLst>
          </a:prstGeom>
          <a:solidFill>
            <a:srgbClr val="123F36"/>
          </a:solidFill>
          <a:ln w="10160">
            <a:solidFill>
              <a:srgbClr val="123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39496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壁垒不在模型，在数据模型 + 行动闭环 + 隐私设计 + 可插拔采集。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67065"/>
                </a:solidFill>
                <a:latin typeface="Microsoft YaHei"/>
              </a:rPr>
              <a:t>Mentor Brief · 导师简报 · 微信优先 · 本地运行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51052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67065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A9CEC1"/>
                </a:solidFill>
                <a:latin typeface="Microsoft YaHei"/>
              </a:rPr>
              <a:t>09 / 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接下来 6 个月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2B28B"/>
                </a:solidFill>
                <a:latin typeface="Microsoft YaHei"/>
              </a:rPr>
              <a:t>NOW / 现在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</a:rPr>
              <a:t>微信本地版
简报 / 待办 / 回复提纲
DSH CLI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2011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2B28B"/>
                </a:solidFill>
                <a:latin typeface="Microsoft YaHei"/>
              </a:rPr>
              <a:t>3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37744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</a:rPr>
              <a:t>早晚报定时
真实模型 + 引用
关注动态 adapter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011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2B28B"/>
                </a:solidFill>
                <a:latin typeface="Microsoft YaHei"/>
              </a:rPr>
              <a:t>6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37744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</a:rPr>
              <a:t>团队版 / 导师授权
企业微信 / QQ 官方 adapter
本地账户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A9CEC1"/>
                </a:solidFill>
                <a:latin typeface="Microsoft YaHei"/>
              </a:rPr>
              <a:t>商业模式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个人版免费/订阅  ·  团队版（课题组/社团/加速器）本地部署 + 权限 + 审计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92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A9CEC1"/>
                </a:solidFill>
                <a:latin typeface="Microsoft YaHei"/>
              </a:rPr>
              <a:t>团队分工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Microsoft YaHei"/>
              </a:rPr>
              <a:t>数据/采集  ·  产品/简报  ·  前端/演示  ·  DSH/路演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让每个学生，都不漏掉导师的关键一句。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